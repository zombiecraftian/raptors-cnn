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7BC62"/>
                </a:solidFill>
                <a:latin typeface="Calibri"/>
              </a:rPr>
              <a:t>TESIS DE MAESTRÍA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5F5F5"/>
                </a:solidFill>
                <a:latin typeface="Calibri"/>
              </a:rPr>
              <a:t>Identificación de Aves Rapaces
Migratorias mediante IA y
Lengua de Señas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023360"/>
            <a:ext cx="18288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E8E8E0"/>
                </a:solidFill>
                <a:latin typeface="Calibri"/>
              </a:rPr>
              <a:t>Un sistema integrado de visión computacional y diseño inclusivo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F5F5"/>
                </a:solidFill>
                <a:latin typeface="Calibri"/>
              </a:rPr>
              <a:t>Brian Fernández Báez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7BC62"/>
                </a:solidFill>
                <a:latin typeface="Calibri"/>
              </a:rPr>
              <a:t>Mayo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7BC62"/>
                </a:solidFill>
                <a:latin typeface="Consolas"/>
              </a:rPr>
              <a:t>github.com/ZOMBIECRAFTIAN/raptors-cnn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5727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El problema y la motivación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671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El estado del arte y el gap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614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Pregunta de investigación e hipótesis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35584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Metodología: CNN + co-creación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95020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Resultados preliminares y hallazgos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5445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Contribución novedosa y plan de publicación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389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Cronograma y trabajo futuro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5F5F5"/>
                </a:solidFill>
                <a:latin typeface="Calibr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7332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2E1A"/>
                </a:solidFill>
                <a:latin typeface="Calibri"/>
              </a:rPr>
              <a:t>Q &amp;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" y="1554480"/>
            <a:ext cx="35661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007" y="1554480"/>
            <a:ext cx="3566160" cy="91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1828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Veracruz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Corredor migratorio de rapaces más grande del mundo.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43891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B85042"/>
                </a:solidFill>
                <a:latin typeface="Calibri"/>
              </a:rPr>
              <a:t>+5,000,000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5212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individuos por temporada (Pronatura, 2020)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767" y="1554480"/>
            <a:ext cx="35661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2767" y="1554480"/>
            <a:ext cx="3566160" cy="91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1828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Identificación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24688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Depende totalmente de expertos humanos: alto costo, sesgo inter-observador, difícil de escalar.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43891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B85042"/>
                </a:solidFill>
                <a:latin typeface="Calibri"/>
              </a:rPr>
              <a:t>~10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087" y="5212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de conteo continuo por jornada de campo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527" y="1554480"/>
            <a:ext cx="35661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527" y="1554480"/>
            <a:ext cx="3566160" cy="91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847" y="1828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Inclusión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24688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Las personas sordas están excluidas del discurso ornitológico: no existen señas formalizadas para la mayoría de rapaces.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3891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B85042"/>
                </a:solidFill>
                <a:latin typeface="Calibri"/>
              </a:rPr>
              <a:t>466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847" y="5212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personas con discapacidad auditiva (OMS, 2021)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El gap del estado del arte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887" y="1554480"/>
            <a:ext cx="3200400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166420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287" y="1554480"/>
            <a:ext cx="2286000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447" y="1664208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Modalidad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1554480"/>
            <a:ext cx="2560320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Rapaces en vuelo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7607" y="1554480"/>
            <a:ext cx="2743200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4767" y="16642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Componente accesible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887" y="205740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047" y="217627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BirdNET (Kahl 2021)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1287" y="20574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8447" y="217627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Acústica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20574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17627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 marginal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47607" y="20574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4767" y="217627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887" y="2560320"/>
            <a:ext cx="32004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047" y="267919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Wildlife Insights (2020)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1287" y="2560320"/>
            <a:ext cx="22860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38447" y="267919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Cámaras trampa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2560320"/>
            <a:ext cx="256032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267919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 terrestre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47607" y="2560320"/>
            <a:ext cx="27432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4767" y="267919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887" y="306324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047" y="3182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iNaturalist Vision (2018)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01287" y="30632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8447" y="318211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Visión general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7287" y="30632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447" y="318211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△ posadas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47607" y="30632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4767" y="318211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0887" y="3566160"/>
            <a:ext cx="32004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047" y="368503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Boer et al. (2022)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1287" y="3566160"/>
            <a:ext cx="22860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38447" y="368503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CNN + YOLO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7287" y="3566160"/>
            <a:ext cx="256032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4447" y="368503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✓ pero Europa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47607" y="3566160"/>
            <a:ext cx="27432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4767" y="368503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0887" y="406908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047" y="418795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Khandelwal et al. (2022)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01287" y="406908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38447" y="418795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CNN género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7287" y="40690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4447" y="418795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✓ género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47607" y="406908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84767" y="418795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0887" y="4572000"/>
            <a:ext cx="32004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047" y="469087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Glosarios LSM ciencias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1287" y="4572000"/>
            <a:ext cx="22860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38447" y="469087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Lengua de señas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87287" y="4572000"/>
            <a:ext cx="256032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4447" y="469087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47607" y="4572000"/>
            <a:ext cx="2743200" cy="50292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84767" y="469087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✓ otros dominios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0887" y="5074920"/>
            <a:ext cx="3200400" cy="50292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8047" y="519379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raptors-cnn (esta tesis)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01287" y="5074920"/>
            <a:ext cx="2286000" cy="50292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38447" y="519379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CNN + 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87287" y="5074920"/>
            <a:ext cx="2560320" cy="50292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4447" y="519379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✓ 14 especies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47607" y="5074920"/>
            <a:ext cx="2743200" cy="50292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84767" y="519379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✓ 14 señas 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B85042"/>
                </a:solidFill>
                <a:latin typeface="Calibri"/>
              </a:rPr>
              <a:t>Ningún sistema previo combina: especie de rapaces en vuelo + componente accesible.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  <a:latin typeface="Calibri"/>
              </a:rPr>
              <a:t>Pregunta de investigación e hipótesis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PREGUNTA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2E1A"/>
                </a:solidFill>
                <a:latin typeface="Calibri"/>
              </a:rPr>
              <a:t>¿Puede una CNN identificar correctamente 14 especies de rapaces migratorias en vuelo con acc ≥ 85 %, e integrarse con un catálogo de 14 señas en International Sign validado por la comunidad sorda?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91440" cy="29260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Calibri"/>
              </a:rPr>
              <a:t>H1 — Hipótesis cuantitativa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Una CNN ResNet-50 entrenada con transfer learning en 2 etapas sobre ≥ 200 imágenes / especie alcanzará:
• Accuracy global ≥ 0.85 (IC 95 %)
• F1 macro ≥ 0.83
• AUC macro ≥ 0.92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383280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383280"/>
            <a:ext cx="91440" cy="2926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5042"/>
                </a:solidFill>
                <a:latin typeface="Calibri"/>
              </a:rPr>
              <a:t>H2 — Hipótesis del componente 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Un catálogo de 14 señas en IS, co-creado con la comunidad sorda, obtendrá calificación promedio:
• Claridad ≥ 4.0 / 5.0
• Naturalidad ≥ 4.0 / 5.0
• Memorabilidad ≥ 4.0 / 5.0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Las 14 especies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  <a:latin typeface="Calibri"/>
              </a:rPr>
              <a:t>Migrantes del corredor de Veracruz, 4 familias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68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088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12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Buteo platypterus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12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Broad-winged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532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9252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676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Buteo swainsoni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676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Swainson's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696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416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840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Cathartes aura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840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Turkey Vulture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860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7580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04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Ictinia mississippiensis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004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Mississippi Kite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024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6744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Accipiter striatus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168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Sharp-shinned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0188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5908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332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Astur cooperii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332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Cooper's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93527" y="146304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50727" y="1645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4967" y="24688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Buteo jamaicensis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4967" y="29718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Red-tailed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68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088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2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Buteo lineatus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2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Red-shouldered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3532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9252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ZT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676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Buteo albonotatus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676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Zone-tailed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2696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8416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1840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Circus hudsonius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840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Northern Harrier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1860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77580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004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Falco peregrinus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004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Peregrine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024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6744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168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Falco sparverius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168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American Kestrel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0188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5908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9332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Pandion haliaetus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332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Osprey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93527" y="3794760"/>
            <a:ext cx="1554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50727" y="3977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84967" y="4800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2C5F2D"/>
                </a:solidFill>
                <a:latin typeface="Calibri"/>
              </a:rPr>
              <a:t>Falco columbarius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84967" y="53035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4A4A"/>
                </a:solidFill>
                <a:latin typeface="Calibri"/>
              </a:rPr>
              <a:t>Merlin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Pipeline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607" y="2286000"/>
            <a:ext cx="1554480" cy="914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560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2C5F2D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2918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2E1A"/>
                </a:solidFill>
                <a:latin typeface="Calibri"/>
              </a:rPr>
              <a:t>Imagen
en vuelo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9375" y="30632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C5F2D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5407" y="228600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5407" y="2286000"/>
            <a:ext cx="1554480" cy="9144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407" y="2560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97BC62"/>
                </a:solidFill>
                <a:latin typeface="Calibri"/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407" y="32918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2E1A"/>
                </a:solidFill>
                <a:latin typeface="Calibri"/>
              </a:rPr>
              <a:t>Pre-proceso
224×224
norm.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8175" y="30632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C5F2D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4207" y="228600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4207" y="2286000"/>
            <a:ext cx="1554480" cy="91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207" y="2560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B85042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32918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2E1A"/>
                </a:solidFill>
                <a:latin typeface="Calibri"/>
              </a:rPr>
              <a:t>CNN
ResNet-50
+ 3 más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6975" y="30632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C5F2D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2286000"/>
            <a:ext cx="1554480" cy="9144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3007" y="2560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97BC62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32918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2E1A"/>
                </a:solidFill>
                <a:latin typeface="Calibri"/>
              </a:rPr>
              <a:t>Softmax
14 clases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5775" y="30632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C5F2D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807" y="228600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1807" y="2286000"/>
            <a:ext cx="1554480" cy="914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1807" y="2560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2C5F2D"/>
                </a:solidFill>
                <a:latin typeface="Calibri"/>
              </a:rPr>
              <a:t>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7" y="32918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2E1A"/>
                </a:solidFill>
                <a:latin typeface="Calibri"/>
              </a:rPr>
              <a:t>Grad-CAM
verificación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4575" y="30632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C5F2D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90607" y="228600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90607" y="2286000"/>
            <a:ext cx="1554480" cy="91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0607" y="2560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B85042"/>
                </a:solidFill>
                <a:latin typeface="Calibri"/>
              </a:rPr>
              <a:t>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0607" y="32918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2E1A"/>
                </a:solidFill>
                <a:latin typeface="Calibri"/>
              </a:rPr>
              <a:t>Especie
+ Seña IS
+ ficha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4A4A4A"/>
                </a:solidFill>
                <a:latin typeface="Calibri"/>
              </a:rPr>
              <a:t>Cada bloque es modular y reutilizable; el pipeline está verificado end-to-end con dataset sintético.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  <a:latin typeface="Calibri"/>
              </a:rPr>
              <a:t>Metodología: transfer learning en 2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ETAPA 1 — Feature extraction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8600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Cargar pesos pre-entrenados en ImageNet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8892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88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Congelar backbone (no entrena)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9184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91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Entrenar solo la cabeza clasificadora (14 salidas)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9476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94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10 epochs · lr = 1e-3 · Adam · batch 32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29768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Loss: cross-entropy ponderada por clase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ETAPA 2 — Fine-tuning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2286000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Descongelar TODO el modelo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2788920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788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Re-entrenar con lr bajo (1e-4) y AdamW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3291840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291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60 epochs · cosine scheduler · early stopping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3794760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94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Label smoothing 0.1 + Mixup α=0.2 + CutMix</a:t>
            </a:r>
          </a:p>
        </p:txBody>
      </p:sp>
      <p:sp>
        <p:nvSpPr>
          <p:cNvPr id="29" name="Oval 28"/>
          <p:cNvSpPr/>
          <p:nvPr/>
        </p:nvSpPr>
        <p:spPr>
          <a:xfrm>
            <a:off x="6446520" y="4297680"/>
            <a:ext cx="274320" cy="2743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Validación cruzada estratificada k=5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  <a:latin typeface="Calibri"/>
              </a:rPr>
              <a:t>Catálogo de señas en International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B85042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2C5F2D"/>
                </a:solidFill>
                <a:latin typeface="Calibri"/>
              </a:rPr>
              <a:t>señas en International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  <a:latin typeface="Calibri"/>
              </a:rPr>
              <a:t>co-creadas con la comunidad sorda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Iconicidad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9659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Cada seña representa visualmente el rasgo diagnóstico más distintivo de la especie.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269748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606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Co-creación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0175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Metodología Kusters &amp; De Meulder (2019): la comunidad sorda no es sujeto sino co-autora.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657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Alcance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690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International Sign (no LSM local): catálogo reutilizable en cualquier país del mundo.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4800599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7091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51206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Escala Likert 1-5 sobre claridad, naturalidad, memorabilidad. Umbral ≥ 4.0.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Calibri"/>
              </a:rPr>
              <a:t>Hallazgo: 'shortcut learning' detectado con Grad-CAM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97BC62"/>
                </a:solidFill>
                <a:latin typeface="Calibri"/>
              </a:rPr>
              <a:t>Durante el smoke-test con dataset sintético...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 i="0">
                <a:solidFill>
                  <a:srgbClr val="B85042"/>
                </a:solidFill>
                <a:latin typeface="Calibri"/>
              </a:rPr>
              <a:t>100 %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5F5F5"/>
                </a:solidFill>
                <a:latin typeface="Calibri"/>
              </a:rPr>
              <a:t>accuracy aparentemente perfecta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7BC62"/>
                </a:solidFill>
                <a:latin typeface="Calibri"/>
              </a:rPr>
              <a:t>Pero Grad-CAM reveló: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8E0"/>
                </a:solidFill>
                <a:latin typeface="Calibri"/>
              </a:rPr>
              <a:t>El modelo no aprendió las formas geométricas: aprendió a LEER el texto que yo había metido en cada imagen como etiqueta.
Una señal completamente espuria que sin Grad-CAM habría sido invisible.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10972800" cy="54864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F5F5F5"/>
                </a:solidFill>
                <a:latin typeface="Calibri"/>
              </a:rPr>
              <a:t>Métricas perfectas pueden ocultar fallas críticas. La interpretabilidad NO es opcional.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7BC62"/>
                </a:solidFill>
                <a:latin typeface="Calibri"/>
              </a:rPr>
              <a:t>Geirhos et al., 2020 — Nature Machine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Calibri"/>
              </a:rPr>
              <a:t>Comparativa de 4 arquitecturas × 2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5544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447" y="1554480"/>
            <a:ext cx="2606040" cy="914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18288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Calibri"/>
              </a:rPr>
              <a:t>ResNet-50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2E1A"/>
                </a:solidFill>
                <a:latin typeface="Calibri"/>
              </a:rPr>
              <a:t>25.6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3832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parámetros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7490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Equilibrio probado, ampliamente documentada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8367" y="15544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8367" y="1554480"/>
            <a:ext cx="2606040" cy="914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1247" y="18288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Calibri"/>
              </a:rPr>
              <a:t>EfficientNet-B3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247" y="246888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2E1A"/>
                </a:solidFill>
                <a:latin typeface="Calibri"/>
              </a:rPr>
              <a:t>12.0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247" y="33832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parámetros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247" y="37490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Mejor relación parámetros / precisión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15544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1554480"/>
            <a:ext cx="2606040" cy="9144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18288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7BC62"/>
                </a:solidFill>
                <a:latin typeface="Calibri"/>
              </a:rPr>
              <a:t>MobileNetV3-L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46888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2E1A"/>
                </a:solidFill>
                <a:latin typeface="Calibri"/>
              </a:rPr>
              <a:t>5.5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3832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parámetros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37490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Apta para despliegue móvil futuro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6207" y="15544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6207" y="1554480"/>
            <a:ext cx="2606040" cy="914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9087" y="18288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Calibri"/>
              </a:rPr>
              <a:t>ConvNeXt-Tiny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9087" y="246888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2E1A"/>
                </a:solidFill>
                <a:latin typeface="Calibri"/>
              </a:rPr>
              <a:t>28.6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9087" y="33832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parámetros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9087" y="374904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Estado del arte 2022, transformer-like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A4A4A"/>
                </a:solidFill>
                <a:latin typeface="Calibri"/>
              </a:rPr>
              <a:t>Análisis estadístico: McNemar pareado entre clasificadores · t-test pareado sobre folds · corrección Bonferroni para 8 comparaciones (α=0.0125).
Cada arquitectura se implementa en PyTorch (raptors-pt) y TensorFlow (raptors-tf) con seed=42 sobre el mismo split, garantizando comparabilidad estricta.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Contribución novedosa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  <a:latin typeface="Calibri"/>
              </a:rPr>
              <a:t>Lo que ningún sistema previo combina simultáneamente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64592" cy="11887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Calibri"/>
              </a:rPr>
              <a:t>Científica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Primer modelo CNN especializado en 14 rapaces neárticas en vuelo + comparativa estadística entre 4 arquitecturas × 2 frameworks.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164592" cy="118872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97BC62"/>
                </a:solidFill>
                <a:latin typeface="Calibri"/>
              </a:rPr>
              <a:t>Tecnológica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Pipeline modular reproducible (MIT) + cliente eBird/iNaturalist con filtros de licencia + prototipo funcional.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60"/>
            <a:ext cx="164592" cy="11887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Calibri"/>
              </a:rPr>
              <a:t>Social e inclusiva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Primer catálogo formal de señas científicas IS para rapaces + metodología de co-creación replicable.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  <a:latin typeface="Calibri"/>
              </a:rPr>
              <a:t>Plan de publicación post-defensa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887" y="1645920"/>
            <a:ext cx="3200400" cy="5943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1810512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Revista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287" y="1645920"/>
            <a:ext cx="2103120" cy="5943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447" y="1810512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Cuartil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4407" y="1645920"/>
            <a:ext cx="3657600" cy="5943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1567" y="1810512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Componente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62007" y="1645920"/>
            <a:ext cx="1828800" cy="5943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9167" y="1810512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Calibri"/>
              </a:rPr>
              <a:t>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887" y="224028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047" y="242316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Ecological Informatics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1287" y="224028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8447" y="242316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Q1 — IF 4.6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4407" y="22402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23160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Modelo CNN + comparativa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62007" y="2240280"/>
            <a:ext cx="1828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99167" y="2423160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+3 meses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887" y="2834640"/>
            <a:ext cx="320040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047" y="301752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J. Raptor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1287" y="2834640"/>
            <a:ext cx="210312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38447" y="301752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Q2 ornitología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04407" y="2834640"/>
            <a:ext cx="365760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3017520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Aplicación al corredor Veracruz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62007" y="2834640"/>
            <a:ext cx="182880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9167" y="3017520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+6 meses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887" y="342900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047" y="36118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Sign Language Studies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01287" y="342900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8447" y="361188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Q1 lingüística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4407" y="34290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1567" y="3611880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Metodología co-creación señas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62007" y="3429000"/>
            <a:ext cx="1828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9167" y="3611880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+9 meses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0887" y="4023360"/>
            <a:ext cx="320040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047" y="42062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Ardea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1287" y="4023360"/>
            <a:ext cx="210312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38447" y="420624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Q2 ornitología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04407" y="4023360"/>
            <a:ext cx="365760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1567" y="4206240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Comparativa global de corredores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62007" y="4023360"/>
            <a:ext cx="1828800" cy="594360"/>
          </a:xfrm>
          <a:prstGeom prst="rect">
            <a:avLst/>
          </a:prstGeom>
          <a:solidFill>
            <a:srgbClr val="E8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99167" y="4206240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+12 meses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0887" y="461772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047" y="480060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Environmental Education Research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01287" y="461772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38447" y="4800600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Q1 educación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04407" y="461772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1567" y="4800600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DUA/UDL en educación ambiental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62007" y="4617720"/>
            <a:ext cx="1828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99167" y="4800600"/>
            <a:ext cx="1554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+12 meses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B85042"/>
                </a:solidFill>
                <a:latin typeface="Calibri"/>
              </a:rPr>
              <a:t>Estrategia: publicaciones diferenciadas → mismo proyecto, audiencias distintas → máxima cobertura disciplinar y reputación interdisciplinar.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  <a:latin typeface="Calibri"/>
              </a:rPr>
              <a:t>Estado y cronograma del proyecto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Investigación teórica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2C5F2D"/>
                </a:solidFill>
                <a:latin typeface="Calibri"/>
              </a:rPr>
              <a:t>Ene-Mar 2026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Caps. 1-3 (DOCX)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2C5F2D"/>
                </a:solidFill>
                <a:latin typeface="Calibri"/>
              </a:rPr>
              <a:t>Mar-May 2026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7744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23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Infraestructura PyTorch + CUDA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23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2C5F2D"/>
                </a:solidFill>
                <a:latin typeface="Calibri"/>
              </a:rPr>
              <a:t>Abr-May 2026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8892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34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Smoke-test + Grad-CAM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2C5F2D"/>
                </a:solidFill>
                <a:latin typeface="Calibri"/>
              </a:rPr>
              <a:t>May 2026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20040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46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E1A"/>
                </a:solidFill>
                <a:latin typeface="Calibri"/>
              </a:rPr>
              <a:t>Repositorio GitHub público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2C5F2D"/>
                </a:solidFill>
                <a:latin typeface="Calibri"/>
              </a:rPr>
              <a:t>May 2026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611880"/>
            <a:ext cx="292608" cy="292608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57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Recolección de dataset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4A4A4A"/>
                </a:solidFill>
                <a:latin typeface="Calibri"/>
              </a:rPr>
              <a:t>May-Jul 2026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023360"/>
            <a:ext cx="292608" cy="292608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69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Etiquetado doble-anotador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069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4A4A4A"/>
                </a:solidFill>
                <a:latin typeface="Calibri"/>
              </a:rPr>
              <a:t>Jul 2026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434840"/>
            <a:ext cx="292608" cy="292608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80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Entrenamiento real + comparativa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480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4A4A4A"/>
                </a:solidFill>
                <a:latin typeface="Calibri"/>
              </a:rPr>
              <a:t>Ago 2026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846320"/>
            <a:ext cx="292608" cy="292608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92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Validación con grupo focal sordo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892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4A4A4A"/>
                </a:solidFill>
                <a:latin typeface="Calibri"/>
              </a:rPr>
              <a:t>Jul-Ago 2026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257800"/>
            <a:ext cx="292608" cy="292608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303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Caps. 4-5 + entrega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4A4A4A"/>
                </a:solidFill>
                <a:latin typeface="Calibri"/>
              </a:rPr>
              <a:t>Sep-Oct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  <a:latin typeface="Calibri"/>
              </a:rPr>
              <a:t>Limitaciones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LIMITACIONES RECONOCIDAS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11680"/>
            <a:ext cx="228600" cy="2286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Dataset limitado a 14 especies (subconjunto del corredor).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23160"/>
            <a:ext cx="228600" cy="2286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Validación de señas con muestra mexicana de IS.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228600" cy="2286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GPU modesta (RTX 3050, 4.3 GB VRAM).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246120"/>
            <a:ext cx="228600" cy="2286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No incluye nocturnas (Strigiformes).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57600"/>
            <a:ext cx="228600" cy="2286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11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Sesgos posibles por sobre-representación de fotos diurnas claras.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TRABAJO FUTURO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2011680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659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Ampliar a 20+ especies y Strigiformes.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423160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377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App móvil con MobileNetV3 cuantizado.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2834640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88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Lengua de Señas Mexicana en paralelo.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246120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00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Realidad aumentada (AR sobre el cielo).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657600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611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Estudios longitudinales 30 años Veracruz.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4069080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Replicación a otros corredores globales.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F5F5"/>
                </a:solidFill>
                <a:latin typeface="Calibri"/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37160" cy="8229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Lenguaje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Python 3.11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13716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Frameworks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PyTorch 2.3 + TensorFlow 2.16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137160" cy="82296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7BC62"/>
                </a:solidFill>
                <a:latin typeface="Calibri"/>
              </a:rPr>
              <a:t>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NVIDIA CUDA 12.1 (RTX 3050)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560320"/>
            <a:ext cx="137160" cy="8229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iNaturalist API + eBird API + Macaulay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13716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Versión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Git + GitHub público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56616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566160"/>
            <a:ext cx="137160" cy="82296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7BC62"/>
                </a:solidFill>
                <a:latin typeface="Calibri"/>
              </a:rPr>
              <a:t>Reproducibilidad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conda env + .env + seeds fijos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137160" cy="8229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634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Doc académica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Word DOCX + Markdown + Mermaid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572000"/>
            <a:ext cx="5303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4572000"/>
            <a:ext cx="13716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6634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Licencias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83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E1A"/>
                </a:solidFill>
                <a:latin typeface="Calibri"/>
              </a:rPr>
              <a:t>MIT (código) + CC-BY (datos) + CC-BY-SA (señas)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5F5F5"/>
                </a:solidFill>
                <a:latin typeface="Calibri"/>
              </a:rPr>
              <a:t>Si los entregables de esta tesis llegan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5F5F5"/>
                </a:solidFill>
                <a:latin typeface="Calibri"/>
              </a:rPr>
              <a:t>a manos de un solo joven sordo apasionado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5F5F5"/>
                </a:solidFill>
                <a:latin typeface="Calibri"/>
              </a:rPr>
              <a:t>por las aves y le permite nombrar, en su lengua,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5F5F5"/>
                </a:solidFill>
                <a:latin typeface="Calibri"/>
              </a:rPr>
              <a:t>al ave que vuela sobre su cabeza,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1">
                <a:solidFill>
                  <a:srgbClr val="97BC62"/>
                </a:solidFill>
                <a:latin typeface="Calibri"/>
              </a:rPr>
              <a:t>el proyecto habrá cumplido su propósito.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8E8E0"/>
                </a:solidFill>
                <a:latin typeface="Calibri"/>
              </a:rPr>
              <a:t>Reflexión final · Capítulo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5F5F5"/>
                </a:solidFill>
                <a:latin typeface="Calibri"/>
              </a:rPr>
              <a:t>Gracias —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C5F2D"/>
                </a:solidFill>
                <a:latin typeface="Calibri"/>
              </a:rPr>
              <a:t>Brian Fernández Báez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brianferbaez@gmail.com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85042"/>
                </a:solidFill>
                <a:latin typeface="Consolas"/>
              </a:rPr>
              <a:t>github.com/ZOMBIECRAFTIAN/raptors-cnn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74720"/>
            <a:ext cx="10972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Calibri"/>
              </a:rPr>
              <a:t>Agradecimientos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A Pronatura Veracruz por tres décadas de monitoreo del Río de Rapaces. Al Hawk Mountain Sanctuary por compartir metodología. Al Cornell Lab of Ornithology por BirdNET y Macaulay Library. Y especialmente a los miembros de la comunidad sorda que aportan su conocimiento lingüístico para la co-creación del catálogo.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raptors-cnn — Brian Fernández Báez — Tesis de Maestría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